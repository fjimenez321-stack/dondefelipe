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7C254-C7FA-4C5D-A443-3EE761A22D03}" v="1" dt="2026-09-02T18:37:02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Jiménez" userId="9d2a731f7c9b41bd" providerId="LiveId" clId="{2AE2B2D7-2040-4DAF-8A21-1032D113C8C0}"/>
    <pc:docChg chg="custSel modSld">
      <pc:chgData name="Felipe Jiménez" userId="9d2a731f7c9b41bd" providerId="LiveId" clId="{2AE2B2D7-2040-4DAF-8A21-1032D113C8C0}" dt="2026-09-02T18:37:11.344" v="4" actId="1076"/>
      <pc:docMkLst>
        <pc:docMk/>
      </pc:docMkLst>
      <pc:sldChg chg="delSp modSp mod">
        <pc:chgData name="Felipe Jiménez" userId="9d2a731f7c9b41bd" providerId="LiveId" clId="{2AE2B2D7-2040-4DAF-8A21-1032D113C8C0}" dt="2026-09-02T18:37:11.344" v="4" actId="1076"/>
        <pc:sldMkLst>
          <pc:docMk/>
          <pc:sldMk cId="0" sldId="258"/>
        </pc:sldMkLst>
        <pc:spChg chg="del">
          <ac:chgData name="Felipe Jiménez" userId="9d2a731f7c9b41bd" providerId="LiveId" clId="{2AE2B2D7-2040-4DAF-8A21-1032D113C8C0}" dt="2026-09-02T18:37:07.632" v="3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Felipe Jiménez" userId="9d2a731f7c9b41bd" providerId="LiveId" clId="{2AE2B2D7-2040-4DAF-8A21-1032D113C8C0}" dt="2026-09-02T18:37:11.344" v="4" actId="1076"/>
          <ac:spMkLst>
            <pc:docMk/>
            <pc:sldMk cId="0" sldId="258"/>
            <ac:spMk id="10" creationId="{00000000-0000-0000-0000-000000000000}"/>
          </ac:spMkLst>
        </pc:spChg>
        <pc:picChg chg="mod">
          <ac:chgData name="Felipe Jiménez" userId="9d2a731f7c9b41bd" providerId="LiveId" clId="{2AE2B2D7-2040-4DAF-8A21-1032D113C8C0}" dt="2026-09-02T18:36:52.191" v="1" actId="14100"/>
          <ac:picMkLst>
            <pc:docMk/>
            <pc:sldMk cId="0" sldId="258"/>
            <ac:picMk id="6" creationId="{00000000-0000-0000-0000-000000000000}"/>
          </ac:picMkLst>
        </pc:picChg>
      </pc:sldChg>
      <pc:sldChg chg="modAnim">
        <pc:chgData name="Felipe Jiménez" userId="9d2a731f7c9b41bd" providerId="LiveId" clId="{2AE2B2D7-2040-4DAF-8A21-1032D113C8C0}" dt="2026-09-02T18:37:02.914" v="2"/>
        <pc:sldMkLst>
          <pc:docMk/>
          <pc:sldMk cId="0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5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_-NS-dM0l7c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fm7u4OEsJA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DpKzWOAupCs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0NBGNwLHzw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B5F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2B5F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960120" cy="960120"/>
          </a:xfrm>
          <a:prstGeom prst="ellipse">
            <a:avLst/>
          </a:prstGeom>
          <a:solidFill>
            <a:srgbClr val="3E7CA6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779069"/>
            <a:ext cx="499262" cy="4992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33A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640080" y="16276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97480" y="16276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ED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FÍSICA 1° MEDIO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Ondas sísmicas, escalas de medición y tsunamis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Ondas sísmicas — Ondas P, S y superficiales; escalas de Mercalli y Richter; origen y propagación de un tsunami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43434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3E7CA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868680" y="4453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13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47914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Propagación de ondas, medición y consecuencias de un sismo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60520" y="43434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3E7CA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389120" y="4453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89120" y="47914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/ Analizar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80960" y="43434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3E7CA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909560" y="4453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909560" y="47914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minutos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Profesor(a): Felipe Jiménez · Colegio San Agustín Villa Alemana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62837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Hoja de ruta de la sesión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630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momentos · 90 minutos totales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49808" y="1691640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49808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64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Gancho sensorial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0208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real de un sismo, como disparador de la sesión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378440" y="176479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10378440" y="1764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3288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749808" y="2624328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749808" y="2624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600200" y="25968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600200" y="29535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P, S y superficiales, conectadas con la clasificación de ondas de la Unidad 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378440" y="269748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0378440" y="2697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46557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749808" y="3557016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749808" y="3557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600200" y="35295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600200" y="38862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resorte vuelve a hablar: modelan ondas P y S con el slinky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378440" y="363016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10378440" y="36301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43982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5"/>
          <p:cNvSpPr/>
          <p:nvPr/>
        </p:nvSpPr>
        <p:spPr>
          <a:xfrm>
            <a:off x="749808" y="4489704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749808" y="44897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600200" y="44622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600200" y="48188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 la generación de un tsunami en una bandeja con agua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0378440" y="456285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10378440" y="45628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533095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2"/>
          <p:cNvSpPr/>
          <p:nvPr/>
        </p:nvSpPr>
        <p:spPr>
          <a:xfrm>
            <a:off x="749808" y="5422392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749808" y="5422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1600200" y="5394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1600200" y="575157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 las escalas de Mercalli y Richter con terremotos chilenos reales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0378440" y="549554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7"/>
          <p:cNvSpPr/>
          <p:nvPr/>
        </p:nvSpPr>
        <p:spPr>
          <a:xfrm>
            <a:off x="10378440" y="54955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6 · Ondas sísmicas, escalas de medición y tsunamis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3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1 · GANCHO SENSORIAL (10 min)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600200" y="87782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sismo real, en video</a:t>
            </a:r>
            <a:endParaRPr lang="en-US" sz="3000" dirty="0"/>
          </a:p>
        </p:txBody>
      </p:sp>
      <p:pic>
        <p:nvPicPr>
          <p:cNvPr id="6" name="Media 0"/>
          <p:cNvPicPr/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48640" y="1691639"/>
            <a:ext cx="10789920" cy="46597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6817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para reproducir en PowerPoint (requiere conexión a internet)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5508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el video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945783" y="50292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sismo se siente distinto al principio que después — primero un golpe seco, luego un vaivén?"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6 · Ondas sísmicas, escalas de medición y tsunamis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713232" cy="713232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610088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2 · CLÁSICA (25 min)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046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Ondas P, S y superficiales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6035040" cy="4572000"/>
          </a:xfrm>
          <a:prstGeom prst="roundRect">
            <a:avLst>
              <a:gd name="adj" fmla="val 2000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22960" y="17556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39696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P (primarias): longitudinales, las más rápidas; comprimen y expanden el material en la dirección de propagación. Viajan por sólidos y líquidos.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S (secundarias): transversales, más lentas que las P; solo se propagan en sólidos, no en líquidos.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superficiales (Love y Rayleigh): más lentas aún, pero las más destructivas porque producen el mayor desplazamiento del suelo.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la Unidad 1: la P es análoga a una onda longitudinal (como el sonido); la S, a una onda transversal (como la de una cuerda).</a:t>
            </a:r>
            <a:endParaRPr lang="en-US" sz="1350" dirty="0"/>
          </a:p>
        </p:txBody>
      </p:sp>
      <p:pic>
        <p:nvPicPr>
          <p:cNvPr id="9" name="Media 0"/>
          <p:cNvPicPr/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6858000" y="1737360"/>
            <a:ext cx="4754880" cy="2679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44714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"¿Cómo se propagan las ondas en un terremoto?" — IGN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0" y="489204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D9E6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6 · Ondas sísmicas, escalas de medición y tsunamis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3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62837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84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3 · STEAM (20 min)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resorte vuelve a hablar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65836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para los grupos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6035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Reutilizan el resorte/slinky de "El Resorte Habla" (Unidad 1), estirado sobre el suelo o una mesa larga.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Empujan y sueltan un extremo en la misma dirección del resorte → modela una onda longitudinal (P).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Mueven un extremo de lado a lado, perpendicular al resorte → modela una onda transversal (S).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cronómetro, comparan cuál de los dos movimientos llega primero al otro extremo.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 sus observaciones en la tabla comparativa.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06640" y="164592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680960" y="2286000"/>
            <a:ext cx="1600200" cy="566928"/>
          </a:xfrm>
          <a:prstGeom prst="rect">
            <a:avLst/>
          </a:prstGeom>
          <a:solidFill>
            <a:srgbClr val="1F4E79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7726680" y="22860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del resorte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81160" y="2286000"/>
            <a:ext cx="1188720" cy="566928"/>
          </a:xfrm>
          <a:prstGeom prst="rect">
            <a:avLst/>
          </a:prstGeom>
          <a:solidFill>
            <a:srgbClr val="1F4E79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9326880" y="22860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onda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469880" y="2286000"/>
            <a:ext cx="1051560" cy="566928"/>
          </a:xfrm>
          <a:prstGeom prst="rect">
            <a:avLst/>
          </a:prstGeom>
          <a:solidFill>
            <a:srgbClr val="1F4E79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10515600" y="228600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relativa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680960" y="2852928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726680" y="285292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Empuje longitudinal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281160" y="28529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9326880" y="28529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(primaria)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469880" y="28529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10515600" y="28529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80960" y="3419856"/>
            <a:ext cx="1600200" cy="566928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7726680" y="341985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Vaivén lateral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281160" y="3419856"/>
            <a:ext cx="1188720" cy="566928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9326880" y="34198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(secundaria)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469880" y="3419856"/>
            <a:ext cx="1051560" cy="566928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10515600" y="341985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lenta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680960" y="4261104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D9E6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7863840" y="437083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así como la P llega antes que la S al sismógrafo, el pulso longitudinal del resorte llega antes que el lateral.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6 · Ondas sísmicas, escalas de medición y tsunamis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713232" cy="713232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wa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610088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4 · EXPERIMENTO (20 min)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046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Simulación de un tsunami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6035040" cy="4572000"/>
          </a:xfrm>
          <a:prstGeom prst="roundRect">
            <a:avLst>
              <a:gd name="adj" fmla="val 2000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22960" y="17556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39696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bandeja transparente con agua, ubican un bloque en el fondo que representa la placa oceánica.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Empujan el bloque hacia arriba de forma súbita, simulando el levantamiento del fondo marino en un sismo de subducción.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Observan cómo se genera y se propaga una onda en la superficie del agua.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 qué ocurre con el nivel del agua justo antes de que llegue la onda más grande.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 esta observación con el retroceso real del mar que suele preceder a un tsunami.</a:t>
            </a:r>
            <a:endParaRPr lang="en-US" sz="1350" dirty="0"/>
          </a:p>
        </p:txBody>
      </p:sp>
      <p:pic>
        <p:nvPicPr>
          <p:cNvPr id="9" name="Media 0"/>
          <p:cNvPicPr/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6858000" y="1691640"/>
            <a:ext cx="4754880" cy="2679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44256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"¿Cómo se forma un tsunami?" — EcologíaVerde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0" y="4846320"/>
            <a:ext cx="4754880" cy="1280160"/>
          </a:xfrm>
          <a:prstGeom prst="roundRect">
            <a:avLst>
              <a:gd name="adj" fmla="val 7143"/>
            </a:avLst>
          </a:prstGeom>
          <a:solidFill>
            <a:srgbClr val="D9E6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/>
          <p:nvPr/>
        </p:nvSpPr>
        <p:spPr>
          <a:xfrm>
            <a:off x="7040880" y="4937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Materiales: bandeja transparente, agua, bloque o ladrillo, cronómetro.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040880" y="53492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Sugerencia: muestren el video antes o después del experimento para reforzar el concepto.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6 · Ondas sísmicas, escalas de medición y tsunamis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3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713232" cy="713232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610088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5 · AER (15 min)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0467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Comparando escalas sísmicas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583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1737360" cy="457200"/>
          </a:xfrm>
          <a:prstGeom prst="rect">
            <a:avLst/>
          </a:prstGeom>
          <a:solidFill>
            <a:srgbClr val="1F4E79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Terremoto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14600" y="1828800"/>
            <a:ext cx="1097280" cy="457200"/>
          </a:xfrm>
          <a:prstGeom prst="rect">
            <a:avLst/>
          </a:prstGeom>
          <a:solidFill>
            <a:srgbClr val="1F4E79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256032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11880" y="1828800"/>
            <a:ext cx="1828800" cy="457200"/>
          </a:xfrm>
          <a:prstGeom prst="rect">
            <a:avLst/>
          </a:prstGeom>
          <a:solidFill>
            <a:srgbClr val="1F4E79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365760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(Mw)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40680" y="1828800"/>
            <a:ext cx="1920240" cy="457200"/>
          </a:xfrm>
          <a:prstGeom prst="rect">
            <a:avLst/>
          </a:prstGeom>
          <a:solidFill>
            <a:srgbClr val="1F4E79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48640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máx. (Mercalli)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2286000"/>
            <a:ext cx="1737360" cy="457200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82296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Valdivia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14600" y="2286000"/>
            <a:ext cx="1097280" cy="457200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256032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11880" y="2286000"/>
            <a:ext cx="1828800" cy="457200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365760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40680" y="2286000"/>
            <a:ext cx="1920240" cy="457200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54864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7240" y="274320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82296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Maule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514600" y="2743200"/>
            <a:ext cx="1097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256032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11880" y="2743200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36576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40680" y="274320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54864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77240" y="3200400"/>
            <a:ext cx="1737360" cy="457200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82296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Illapel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514600" y="3200400"/>
            <a:ext cx="1097280" cy="457200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/>
          <p:nvPr/>
        </p:nvSpPr>
        <p:spPr>
          <a:xfrm>
            <a:off x="256032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3611880" y="3200400"/>
            <a:ext cx="1828800" cy="457200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365760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40680" y="3200400"/>
            <a:ext cx="1920240" cy="457200"/>
          </a:xfrm>
          <a:prstGeom prst="rect">
            <a:avLst/>
          </a:prstGeom>
          <a:solidFill>
            <a:srgbClr val="EDE3CD"/>
          </a:solidFill>
          <a:ln w="9525">
            <a:solidFill>
              <a:srgbClr val="D9C7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/>
          <p:nvPr/>
        </p:nvSpPr>
        <p:spPr>
          <a:xfrm>
            <a:off x="54864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48640" y="4114800"/>
            <a:ext cx="6583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33A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7"/>
          <p:cNvSpPr/>
          <p:nvPr/>
        </p:nvSpPr>
        <p:spPr>
          <a:xfrm>
            <a:off x="822960" y="4251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AER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822960" y="46177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"¿Por qué el terremoto de Illapel (2015) tiene una magnitud similar a la del Maule (2010), pero una intensidad máxima menor?"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22960" y="53035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Afirmación – Evidencia – Razonamiento: apóyense en la distancia al epicentro, la profundidad del hipocentro y la densidad de población cercana.</a:t>
            </a:r>
            <a:endParaRPr lang="en-US" sz="1200" dirty="0"/>
          </a:p>
        </p:txBody>
      </p:sp>
      <p:pic>
        <p:nvPicPr>
          <p:cNvPr id="43" name="Media 0"/>
          <p:cNvPicPr/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406640" y="1600200"/>
            <a:ext cx="4206240" cy="2368296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40664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Reportaje: 60 años del terremoto de Valdivia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7406640" y="443484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D9E6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Text 42"/>
          <p:cNvSpPr/>
          <p:nvPr/>
        </p:nvSpPr>
        <p:spPr>
          <a:xfrm>
            <a:off x="7589520" y="4544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7589520" y="486460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magnitud (Richter/Mw) es un solo número por sismo. La intensidad (Mercalli) varía según el lugar: depende de la distancia al epicentro, la profundidad del hipocentro y el tipo de suelo.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6 · Ondas sísmicas, escalas de medición y tsunamis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2B5F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166360" y="914400"/>
            <a:ext cx="960120" cy="960120"/>
          </a:xfrm>
          <a:prstGeom prst="ellipse">
            <a:avLst/>
          </a:prstGeom>
          <a:solidFill>
            <a:srgbClr val="3E7CA6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789" y="1144829"/>
            <a:ext cx="499262" cy="4992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402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 la Sesión 6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005840" y="30175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comprendimos cómo se propagan las ondas P, S y superficiales, cómo se miden los sismos con las escalas de Mercalli y Richter, y cómo se origina un tsunami.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468880" y="4160520"/>
            <a:ext cx="7223760" cy="1325880"/>
          </a:xfrm>
          <a:prstGeom prst="roundRect">
            <a:avLst>
              <a:gd name="adj" fmla="val 6897"/>
            </a:avLst>
          </a:prstGeom>
          <a:solidFill>
            <a:srgbClr val="EDE3C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2697480" y="4315968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(7): Cultura sísmica y cierre de la Unidad 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(Kahoot + semáforo de metacognición de cierre de unidad)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Sesión 6 · Ondas sísmicas, escalas de medición y tsunamis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962</Words>
  <Application>Microsoft Office PowerPoint</Application>
  <PresentationFormat>Widescreen</PresentationFormat>
  <Paragraphs>125</Paragraphs>
  <Slides>8</Slides>
  <Notes>8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Felipe Jiménez</cp:lastModifiedBy>
  <cp:revision>2</cp:revision>
  <dcterms:created xsi:type="dcterms:W3CDTF">2026-09-02T00:47:33Z</dcterms:created>
  <dcterms:modified xsi:type="dcterms:W3CDTF">2026-09-02T18:37:18Z</dcterms:modified>
</cp:coreProperties>
</file>