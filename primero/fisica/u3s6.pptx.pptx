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7557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_-NS-dM0l7c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Rfm7u4OEsJA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DpKzWOAupCs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r0NBGNwLHzw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2B5F8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-1371600" y="4846320"/>
            <a:ext cx="3657600" cy="3657600"/>
          </a:xfrm>
          <a:prstGeom prst="ellipse">
            <a:avLst/>
          </a:prstGeom>
          <a:solidFill>
            <a:srgbClr val="2B5F8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640080" y="548640"/>
            <a:ext cx="960120" cy="960120"/>
          </a:xfrm>
          <a:prstGeom prst="ellipse">
            <a:avLst/>
          </a:prstGeom>
          <a:solidFill>
            <a:srgbClr val="3E7CA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9" y="779069"/>
            <a:ext cx="499262" cy="49926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1627632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B33A3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640080" y="16276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6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697480" y="1627632"/>
            <a:ext cx="6400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EDE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FÍSICA 1° MEDIO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21488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Ondas sísmicas, escalas de medición y tsunamis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40080" y="338328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2 · Ondas sísmicas — Ondas P, S y superficiales; escalas de Mercalli y Richter; origen y propagación de un tsunami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40080" y="434340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3E7CA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868680" y="44531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DE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 13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68680" y="479145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Propagación de ondas, medición y consecuencias de un sismo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160520" y="434340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3E7CA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/>
          <p:nvPr/>
        </p:nvSpPr>
        <p:spPr>
          <a:xfrm>
            <a:off x="4389120" y="44531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DE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389120" y="479145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/ Analizar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680960" y="4343400"/>
            <a:ext cx="3291840" cy="1097280"/>
          </a:xfrm>
          <a:prstGeom prst="roundRect">
            <a:avLst>
              <a:gd name="adj" fmla="val 8333"/>
            </a:avLst>
          </a:prstGeom>
          <a:solidFill>
            <a:srgbClr val="3E7CA6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8" name="Text 15"/>
          <p:cNvSpPr/>
          <p:nvPr/>
        </p:nvSpPr>
        <p:spPr>
          <a:xfrm>
            <a:off x="7909560" y="44531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DE3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909560" y="479145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minutos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0080" y="6355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9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Profesor(a): Felipe Jiménez · Colegio San Agustín Villa Alemana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13232" cy="713232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rou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6" y="628376"/>
            <a:ext cx="370881" cy="37088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75488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Hoja de ruta de la sesión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463040" y="1005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momentos · 90 minutos totales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87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7" name="Shape 4"/>
          <p:cNvSpPr/>
          <p:nvPr/>
        </p:nvSpPr>
        <p:spPr>
          <a:xfrm>
            <a:off x="749808" y="1691640"/>
            <a:ext cx="603504" cy="603504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749808" y="16916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6420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Gancho sensorial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600200" y="20208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real de un sismo, como disparador de la sesión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0378440" y="1764792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EDE3C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10378440" y="176479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2532888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87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749808" y="2624328"/>
            <a:ext cx="603504" cy="603504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5" name="Text 12"/>
          <p:cNvSpPr/>
          <p:nvPr/>
        </p:nvSpPr>
        <p:spPr>
          <a:xfrm>
            <a:off x="749808" y="26243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600200" y="259689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Clásica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600200" y="295351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Ondas P, S y superficiales, conectadas con la clasificación de ondas de la Unidad 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10378440" y="2697480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EDE3C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Text 16"/>
          <p:cNvSpPr/>
          <p:nvPr/>
        </p:nvSpPr>
        <p:spPr>
          <a:xfrm>
            <a:off x="10378440" y="26974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465576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87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1" name="Shape 18"/>
          <p:cNvSpPr/>
          <p:nvPr/>
        </p:nvSpPr>
        <p:spPr>
          <a:xfrm>
            <a:off x="749808" y="3557016"/>
            <a:ext cx="603504" cy="603504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Text 19"/>
          <p:cNvSpPr/>
          <p:nvPr/>
        </p:nvSpPr>
        <p:spPr>
          <a:xfrm>
            <a:off x="749808" y="355701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600200" y="352958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1600200" y="388620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resorte vuelve a hablar: modelan ondas P y S con el slinky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0378440" y="3630168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EDE3C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23"/>
          <p:cNvSpPr/>
          <p:nvPr/>
        </p:nvSpPr>
        <p:spPr>
          <a:xfrm>
            <a:off x="10378440" y="3630168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48640" y="4398264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87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5"/>
          <p:cNvSpPr/>
          <p:nvPr/>
        </p:nvSpPr>
        <p:spPr>
          <a:xfrm>
            <a:off x="749808" y="4489704"/>
            <a:ext cx="603504" cy="603504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9" name="Text 26"/>
          <p:cNvSpPr/>
          <p:nvPr/>
        </p:nvSpPr>
        <p:spPr>
          <a:xfrm>
            <a:off x="749808" y="448970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1600200" y="44622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</a:t>
            </a:r>
            <a:endParaRPr lang="en-US" sz="1700" dirty="0"/>
          </a:p>
        </p:txBody>
      </p:sp>
      <p:sp>
        <p:nvSpPr>
          <p:cNvPr id="31" name="Text 28"/>
          <p:cNvSpPr/>
          <p:nvPr/>
        </p:nvSpPr>
        <p:spPr>
          <a:xfrm>
            <a:off x="1600200" y="4818888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Simulan la generación de un tsunami en una bandeja con agua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10378440" y="4562856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EDE3C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3" name="Text 30"/>
          <p:cNvSpPr/>
          <p:nvPr/>
        </p:nvSpPr>
        <p:spPr>
          <a:xfrm>
            <a:off x="10378440" y="4562856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548640" y="5330952"/>
            <a:ext cx="11064240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587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5" name="Shape 32"/>
          <p:cNvSpPr/>
          <p:nvPr/>
        </p:nvSpPr>
        <p:spPr>
          <a:xfrm>
            <a:off x="749808" y="5422392"/>
            <a:ext cx="603504" cy="603504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6" name="Text 33"/>
          <p:cNvSpPr/>
          <p:nvPr/>
        </p:nvSpPr>
        <p:spPr>
          <a:xfrm>
            <a:off x="749808" y="54223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200" dirty="0"/>
          </a:p>
        </p:txBody>
      </p:sp>
      <p:sp>
        <p:nvSpPr>
          <p:cNvPr id="37" name="Text 34"/>
          <p:cNvSpPr/>
          <p:nvPr/>
        </p:nvSpPr>
        <p:spPr>
          <a:xfrm>
            <a:off x="1600200" y="53949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</a:t>
            </a:r>
            <a:endParaRPr lang="en-US" sz="1700" dirty="0"/>
          </a:p>
        </p:txBody>
      </p:sp>
      <p:sp>
        <p:nvSpPr>
          <p:cNvPr id="38" name="Text 35"/>
          <p:cNvSpPr/>
          <p:nvPr/>
        </p:nvSpPr>
        <p:spPr>
          <a:xfrm>
            <a:off x="1600200" y="575157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 las escalas de Mercalli y Richter con terremotos chilenos reales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10378440" y="5495544"/>
            <a:ext cx="1051560" cy="457200"/>
          </a:xfrm>
          <a:prstGeom prst="roundRect">
            <a:avLst>
              <a:gd name="adj" fmla="val 12000"/>
            </a:avLst>
          </a:prstGeom>
          <a:solidFill>
            <a:srgbClr val="EDE3C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0" name="Text 37"/>
          <p:cNvSpPr/>
          <p:nvPr/>
        </p:nvSpPr>
        <p:spPr>
          <a:xfrm>
            <a:off x="10378440" y="549554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45720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Sesión 6 · Ondas sísmicas, escalas de medición y tsunamis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3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77240" cy="777240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vid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178" y="643738"/>
            <a:ext cx="404165" cy="40416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02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1 · GANCHO SENSORIAL (10 min)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600200" y="877824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 sismo real, en video</a:t>
            </a:r>
            <a:endParaRPr lang="en-US" sz="3000" dirty="0"/>
          </a:p>
        </p:txBody>
      </p:sp>
      <p:pic>
        <p:nvPicPr>
          <p:cNvPr id="6" name="Media 0"/>
          <p:cNvPicPr/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548640" y="1691640"/>
            <a:ext cx="5212080" cy="29352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8640" y="4681728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 clic para reproducir en PowerPoint (requiere conexión a internet)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080760" y="1691640"/>
            <a:ext cx="553212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5"/>
          <p:cNvSpPr/>
          <p:nvPr/>
        </p:nvSpPr>
        <p:spPr>
          <a:xfrm>
            <a:off x="635508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usar el video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6355080" y="2286000"/>
            <a:ext cx="502920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Proyecta el registro completo o un fragmento inicial, según el tiempo disponible.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dar play, revísalo tú primero y decide hasta dónde mostrarlo al curso.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observan, pide que anoten en silencio: ¿el movimiento se siente igual todo el tiempo, o cambia?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Cierra el video y da 1–2 minutos para compartir en parejas lo que notaron.</a:t>
            </a:r>
            <a:endParaRPr lang="en-US" sz="1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detonante: "¿Por qué un sismo se siente distinto al principio que después — primero un golpe seco, luego un vaivén?"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5720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Sesión 6 · Ondas sísmicas, escalas de medición y tsunamis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713232" cy="713232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wa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6" y="610088"/>
            <a:ext cx="370881" cy="37088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2 · CLÁSICA (25 min)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463040" y="804672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Ondas P, S y superficiales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572768"/>
            <a:ext cx="6035040" cy="4572000"/>
          </a:xfrm>
          <a:prstGeom prst="roundRect">
            <a:avLst>
              <a:gd name="adj" fmla="val 2000"/>
            </a:avLst>
          </a:prstGeom>
          <a:solidFill>
            <a:srgbClr val="EDE3C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822960" y="17556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139696"/>
            <a:ext cx="5486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Ondas P (primarias): longitudinales, las más rápidas; comprimen y expanden el material en la dirección de propagación. Viajan por sólidos y líquidos.</a:t>
            </a:r>
            <a:endParaRPr lang="en-US" sz="13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Ondas S (secundarias): transversales, más lentas que las P; solo se propagan en sólidos, no en líquidos.</a:t>
            </a:r>
            <a:endParaRPr lang="en-US" sz="13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Ondas superficiales (Love y Rayleigh): más lentas aún, pero las más destructivas porque producen el mayor desplazamiento del suelo.</a:t>
            </a:r>
            <a:endParaRPr lang="en-US" sz="135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Conexión con la Unidad 1: la P es análoga a una onda longitudinal (como el sonido); la S, a una onda transversal (como la de una cuerda).</a:t>
            </a:r>
            <a:endParaRPr lang="en-US" sz="1350" dirty="0"/>
          </a:p>
        </p:txBody>
      </p:sp>
      <p:pic>
        <p:nvPicPr>
          <p:cNvPr id="9" name="Media 0"/>
          <p:cNvPicPr/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6858000" y="1737360"/>
            <a:ext cx="4754880" cy="26791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58000" y="447141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"¿Cómo se propagan las ondas en un terremoto?" — IGN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0" y="4892040"/>
            <a:ext cx="4754880" cy="1234440"/>
          </a:xfrm>
          <a:prstGeom prst="roundRect">
            <a:avLst>
              <a:gd name="adj" fmla="val 7407"/>
            </a:avLst>
          </a:prstGeom>
          <a:solidFill>
            <a:srgbClr val="D9E6E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9"/>
          <p:cNvSpPr/>
          <p:nvPr/>
        </p:nvSpPr>
        <p:spPr>
          <a:xfrm>
            <a:off x="45720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Sesión 6 · Ondas sísmicas, escalas de medición y tsunamis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3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713232" cy="713232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sp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6" y="628376"/>
            <a:ext cx="370881" cy="37088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84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3 · STEAM (20 min)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463040" y="841248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resorte vuelve a hablar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6583680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822960" y="182880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Instrucciones para los grupos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2240280"/>
            <a:ext cx="60350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Reutilizan el resorte/slinky de "El Resorte Habla" (Unidad 1), estirado sobre el suelo o una mesa larga.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Empujan y sueltan un extremo en la misma dirección del resorte → modela una onda longitudinal (P).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Mueven un extremo de lado a lado, perpendicular al resorte → modela una onda transversal (S).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cronómetro, comparan cuál de los dos movimientos llega primero al otro extremo.</a:t>
            </a:r>
            <a:endParaRPr lang="en-US" sz="14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Registran sus observaciones en la tabla comparativa.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06640" y="1645920"/>
            <a:ext cx="4206240" cy="44805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768096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comparativa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680960" y="2286000"/>
            <a:ext cx="1600200" cy="566928"/>
          </a:xfrm>
          <a:prstGeom prst="rect">
            <a:avLst/>
          </a:prstGeom>
          <a:solidFill>
            <a:srgbClr val="1F4E79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7726680" y="22860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Movimiento del resorte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9281160" y="2286000"/>
            <a:ext cx="1188720" cy="566928"/>
          </a:xfrm>
          <a:prstGeom prst="rect">
            <a:avLst/>
          </a:prstGeom>
          <a:solidFill>
            <a:srgbClr val="1F4E79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/>
          <p:nvPr/>
        </p:nvSpPr>
        <p:spPr>
          <a:xfrm>
            <a:off x="9326880" y="228600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onda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0469880" y="2286000"/>
            <a:ext cx="1051560" cy="566928"/>
          </a:xfrm>
          <a:prstGeom prst="rect">
            <a:avLst/>
          </a:prstGeom>
          <a:solidFill>
            <a:srgbClr val="1F4E79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10515600" y="228600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relativa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680960" y="2852928"/>
            <a:ext cx="1600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5"/>
          <p:cNvSpPr/>
          <p:nvPr/>
        </p:nvSpPr>
        <p:spPr>
          <a:xfrm>
            <a:off x="7726680" y="2852928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Empuje longitudinal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281160" y="2852928"/>
            <a:ext cx="11887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/>
          <p:nvPr/>
        </p:nvSpPr>
        <p:spPr>
          <a:xfrm>
            <a:off x="9326880" y="285292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(primaria)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469880" y="2852928"/>
            <a:ext cx="1051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19"/>
          <p:cNvSpPr/>
          <p:nvPr/>
        </p:nvSpPr>
        <p:spPr>
          <a:xfrm>
            <a:off x="10515600" y="285292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rápida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680960" y="3419856"/>
            <a:ext cx="1600200" cy="566928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1"/>
          <p:cNvSpPr/>
          <p:nvPr/>
        </p:nvSpPr>
        <p:spPr>
          <a:xfrm>
            <a:off x="7726680" y="3419856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Vaivén lateral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281160" y="3419856"/>
            <a:ext cx="1188720" cy="566928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3"/>
          <p:cNvSpPr/>
          <p:nvPr/>
        </p:nvSpPr>
        <p:spPr>
          <a:xfrm>
            <a:off x="9326880" y="341985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(secundaria)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469880" y="3419856"/>
            <a:ext cx="1051560" cy="566928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5"/>
          <p:cNvSpPr/>
          <p:nvPr/>
        </p:nvSpPr>
        <p:spPr>
          <a:xfrm>
            <a:off x="10515600" y="3419856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lenta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7680960" y="4261104"/>
            <a:ext cx="3657600" cy="1234440"/>
          </a:xfrm>
          <a:prstGeom prst="roundRect">
            <a:avLst>
              <a:gd name="adj" fmla="val 5926"/>
            </a:avLst>
          </a:prstGeom>
          <a:solidFill>
            <a:srgbClr val="D9E6E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Text 27"/>
          <p:cNvSpPr/>
          <p:nvPr/>
        </p:nvSpPr>
        <p:spPr>
          <a:xfrm>
            <a:off x="7863840" y="4370832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Analogía: así como la P llega antes que la S al sismógrafo, el pulso longitudinal del resorte llega antes que el lateral.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45720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Sesión 6 · Ondas sísmicas, escalas de medición y tsunamis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713232" cy="713232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wa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6" y="610088"/>
            <a:ext cx="370881" cy="37088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4 · EXPERIMENTO (20 min)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463040" y="804672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Simulación de un tsunami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48640" y="1572768"/>
            <a:ext cx="6035040" cy="4572000"/>
          </a:xfrm>
          <a:prstGeom prst="roundRect">
            <a:avLst>
              <a:gd name="adj" fmla="val 2000"/>
            </a:avLst>
          </a:prstGeom>
          <a:solidFill>
            <a:srgbClr val="EDE3C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4"/>
          <p:cNvSpPr/>
          <p:nvPr/>
        </p:nvSpPr>
        <p:spPr>
          <a:xfrm>
            <a:off x="822960" y="175564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Procedimiento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139696"/>
            <a:ext cx="54864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una bandeja transparente con agua, ubican un bloque en el fondo que representa la placa oceánica.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Empujan el bloque hacia arriba de forma súbita, simulando el levantamiento del fondo marino en un sismo de subducción.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Observan cómo se genera y se propaga una onda en la superficie del agua.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Registran qué ocurre con el nivel del agua justo antes de que llegue la onda más grande.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Conectan esta observación con el retroceso real del mar que suele preceder a un tsunami.</a:t>
            </a:r>
            <a:endParaRPr lang="en-US" sz="1350" dirty="0"/>
          </a:p>
        </p:txBody>
      </p:sp>
      <p:pic>
        <p:nvPicPr>
          <p:cNvPr id="9" name="Media 0"/>
          <p:cNvPicPr/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6858000" y="1691640"/>
            <a:ext cx="4754880" cy="26791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58000" y="442569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"¿Cómo se forma un tsunami?" — EcologíaVerde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858000" y="4846320"/>
            <a:ext cx="4754880" cy="1280160"/>
          </a:xfrm>
          <a:prstGeom prst="roundRect">
            <a:avLst>
              <a:gd name="adj" fmla="val 7143"/>
            </a:avLst>
          </a:prstGeom>
          <a:solidFill>
            <a:srgbClr val="D9E6E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2" name="Text 8"/>
          <p:cNvSpPr/>
          <p:nvPr/>
        </p:nvSpPr>
        <p:spPr>
          <a:xfrm>
            <a:off x="7040880" y="493776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Materiales: bandeja transparente, agua, bloque o ladrillo, cronómetro.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7040880" y="5349240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Sugerencia: muestren el video antes o después del experimento para reforzar el concepto.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Sesión 6 · Ondas sísmicas, escalas de medición y tsunamis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3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38912"/>
            <a:ext cx="713232" cy="713232"/>
          </a:xfrm>
          <a:prstGeom prst="ellipse">
            <a:avLst/>
          </a:prstGeom>
          <a:solidFill>
            <a:srgbClr val="1F4E79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" name="Image 0" descr="sca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816" y="610088"/>
            <a:ext cx="370881" cy="37088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6304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MOMENTO 5 · AER (15 min)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463040" y="80467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Comparando escalas sísmicas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Shape 4"/>
          <p:cNvSpPr/>
          <p:nvPr/>
        </p:nvSpPr>
        <p:spPr>
          <a:xfrm>
            <a:off x="777240" y="1828800"/>
            <a:ext cx="1737360" cy="457200"/>
          </a:xfrm>
          <a:prstGeom prst="rect">
            <a:avLst/>
          </a:prstGeom>
          <a:solidFill>
            <a:srgbClr val="1F4E79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822960" y="1828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Terremoto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14600" y="1828800"/>
            <a:ext cx="1097280" cy="457200"/>
          </a:xfrm>
          <a:prstGeom prst="rect">
            <a:avLst/>
          </a:prstGeom>
          <a:solidFill>
            <a:srgbClr val="1F4E79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Text 7"/>
          <p:cNvSpPr/>
          <p:nvPr/>
        </p:nvSpPr>
        <p:spPr>
          <a:xfrm>
            <a:off x="2560320" y="18288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611880" y="1828800"/>
            <a:ext cx="1828800" cy="457200"/>
          </a:xfrm>
          <a:prstGeom prst="rect">
            <a:avLst/>
          </a:prstGeom>
          <a:solidFill>
            <a:srgbClr val="1F4E79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3657600" y="1828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Magnitud (Mw)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40680" y="1828800"/>
            <a:ext cx="1920240" cy="457200"/>
          </a:xfrm>
          <a:prstGeom prst="rect">
            <a:avLst/>
          </a:prstGeom>
          <a:solidFill>
            <a:srgbClr val="1F4E79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4" name="Text 11"/>
          <p:cNvSpPr/>
          <p:nvPr/>
        </p:nvSpPr>
        <p:spPr>
          <a:xfrm>
            <a:off x="5486400" y="18288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máx. (Mercalli)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" y="2286000"/>
            <a:ext cx="1737360" cy="457200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822960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Valdivia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514600" y="2286000"/>
            <a:ext cx="1097280" cy="457200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8" name="Text 15"/>
          <p:cNvSpPr/>
          <p:nvPr/>
        </p:nvSpPr>
        <p:spPr>
          <a:xfrm>
            <a:off x="2560320" y="22860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611880" y="2286000"/>
            <a:ext cx="1828800" cy="457200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/>
          <p:nvPr/>
        </p:nvSpPr>
        <p:spPr>
          <a:xfrm>
            <a:off x="3657600" y="22860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40680" y="2286000"/>
            <a:ext cx="1920240" cy="457200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19"/>
          <p:cNvSpPr/>
          <p:nvPr/>
        </p:nvSpPr>
        <p:spPr>
          <a:xfrm>
            <a:off x="54864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XII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77240" y="2743200"/>
            <a:ext cx="1737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1"/>
          <p:cNvSpPr/>
          <p:nvPr/>
        </p:nvSpPr>
        <p:spPr>
          <a:xfrm>
            <a:off x="822960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Maule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2514600" y="2743200"/>
            <a:ext cx="10972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3"/>
          <p:cNvSpPr/>
          <p:nvPr/>
        </p:nvSpPr>
        <p:spPr>
          <a:xfrm>
            <a:off x="2560320" y="27432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3611880" y="2743200"/>
            <a:ext cx="18288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5"/>
          <p:cNvSpPr/>
          <p:nvPr/>
        </p:nvSpPr>
        <p:spPr>
          <a:xfrm>
            <a:off x="3657600" y="2743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440680" y="2743200"/>
            <a:ext cx="1920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0" name="Text 27"/>
          <p:cNvSpPr/>
          <p:nvPr/>
        </p:nvSpPr>
        <p:spPr>
          <a:xfrm>
            <a:off x="54864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IX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777240" y="3200400"/>
            <a:ext cx="1737360" cy="457200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29"/>
          <p:cNvSpPr/>
          <p:nvPr/>
        </p:nvSpPr>
        <p:spPr>
          <a:xfrm>
            <a:off x="822960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Illapel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2514600" y="3200400"/>
            <a:ext cx="1097280" cy="457200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4" name="Text 31"/>
          <p:cNvSpPr/>
          <p:nvPr/>
        </p:nvSpPr>
        <p:spPr>
          <a:xfrm>
            <a:off x="2560320" y="320040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3611880" y="3200400"/>
            <a:ext cx="1828800" cy="457200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6" name="Text 33"/>
          <p:cNvSpPr/>
          <p:nvPr/>
        </p:nvSpPr>
        <p:spPr>
          <a:xfrm>
            <a:off x="365760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5440680" y="3200400"/>
            <a:ext cx="1920240" cy="457200"/>
          </a:xfrm>
          <a:prstGeom prst="rect">
            <a:avLst/>
          </a:prstGeom>
          <a:solidFill>
            <a:srgbClr val="EDE3CD"/>
          </a:solidFill>
          <a:ln w="9525">
            <a:solidFill>
              <a:srgbClr val="D9C79E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8" name="Text 35"/>
          <p:cNvSpPr/>
          <p:nvPr/>
        </p:nvSpPr>
        <p:spPr>
          <a:xfrm>
            <a:off x="548640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VIII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114800"/>
            <a:ext cx="6583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5875">
            <a:solidFill>
              <a:srgbClr val="B33A3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40" name="Text 37"/>
          <p:cNvSpPr/>
          <p:nvPr/>
        </p:nvSpPr>
        <p:spPr>
          <a:xfrm>
            <a:off x="822960" y="4251960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3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AER</a:t>
            </a:r>
            <a:endParaRPr lang="en-US" sz="1400" dirty="0"/>
          </a:p>
        </p:txBody>
      </p:sp>
      <p:sp>
        <p:nvSpPr>
          <p:cNvPr id="41" name="Text 38"/>
          <p:cNvSpPr/>
          <p:nvPr/>
        </p:nvSpPr>
        <p:spPr>
          <a:xfrm>
            <a:off x="822960" y="4617720"/>
            <a:ext cx="6035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"¿Por qué el terremoto de Illapel (2015) tiene una magnitud similar a la del Maule (2010), pero una intensidad máxima menor?"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822960" y="5303520"/>
            <a:ext cx="6035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Afirmación – Evidencia – Razonamiento: apóyense en la distancia al epicentro, la profundidad del hipocentro y la densidad de población cercana.</a:t>
            </a:r>
            <a:endParaRPr lang="en-US" sz="1200" dirty="0"/>
          </a:p>
        </p:txBody>
      </p:sp>
      <p:pic>
        <p:nvPicPr>
          <p:cNvPr id="43" name="Media 0"/>
          <p:cNvPicPr/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406640" y="1600200"/>
            <a:ext cx="4206240" cy="2368296"/>
          </a:xfrm>
          <a:prstGeom prst="rect">
            <a:avLst/>
          </a:prstGeom>
        </p:spPr>
      </p:pic>
      <p:sp>
        <p:nvSpPr>
          <p:cNvPr id="44" name="Text 40"/>
          <p:cNvSpPr/>
          <p:nvPr/>
        </p:nvSpPr>
        <p:spPr>
          <a:xfrm>
            <a:off x="7406640" y="40233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3E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Reportaje: 60 años del terremoto de Valdivia</a:t>
            </a:r>
            <a:endParaRPr lang="en-US" sz="1100" dirty="0"/>
          </a:p>
        </p:txBody>
      </p:sp>
      <p:sp>
        <p:nvSpPr>
          <p:cNvPr id="45" name="Shape 41"/>
          <p:cNvSpPr/>
          <p:nvPr/>
        </p:nvSpPr>
        <p:spPr>
          <a:xfrm>
            <a:off x="7406640" y="4434840"/>
            <a:ext cx="4206240" cy="1874520"/>
          </a:xfrm>
          <a:prstGeom prst="roundRect">
            <a:avLst>
              <a:gd name="adj" fmla="val 4878"/>
            </a:avLst>
          </a:prstGeom>
          <a:solidFill>
            <a:srgbClr val="D9E6EF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6" name="Text 42"/>
          <p:cNvSpPr/>
          <p:nvPr/>
        </p:nvSpPr>
        <p:spPr>
          <a:xfrm>
            <a:off x="7589520" y="45445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clave</a:t>
            </a:r>
            <a:endParaRPr lang="en-US" sz="1300" dirty="0"/>
          </a:p>
        </p:txBody>
      </p:sp>
      <p:sp>
        <p:nvSpPr>
          <p:cNvPr id="47" name="Text 43"/>
          <p:cNvSpPr/>
          <p:nvPr/>
        </p:nvSpPr>
        <p:spPr>
          <a:xfrm>
            <a:off x="7589520" y="4864608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magnitud (Richter/Mw) es un solo número por sismo. La intensidad (Mercalli) varía según el lugar: depende de la distancia al epicentro, la profundidad del hipocentro y el tipo de suelo.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45720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Sesión 6 · Ondas sísmicas, escalas de medición y tsunamis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4114800" cy="4114800"/>
          </a:xfrm>
          <a:prstGeom prst="ellipse">
            <a:avLst/>
          </a:prstGeom>
          <a:solidFill>
            <a:srgbClr val="2B5F8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5166360" y="914400"/>
            <a:ext cx="960120" cy="960120"/>
          </a:xfrm>
          <a:prstGeom prst="ellipse">
            <a:avLst/>
          </a:prstGeom>
          <a:solidFill>
            <a:srgbClr val="3E7CA6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4" name="Image 0" descr="com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6789" y="1144829"/>
            <a:ext cx="499262" cy="4992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240280"/>
            <a:ext cx="10972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Cierre de la Sesión 6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1005840" y="3017520"/>
            <a:ext cx="10149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9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comprendimos cómo se propagan las ondas P, S y superficiales, cómo se miden los sismos con las escalas de Mercalli y Richter, y cómo se origina un tsunami.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2468880" y="4160520"/>
            <a:ext cx="7223760" cy="1325880"/>
          </a:xfrm>
          <a:prstGeom prst="roundRect">
            <a:avLst>
              <a:gd name="adj" fmla="val 6897"/>
            </a:avLst>
          </a:prstGeom>
          <a:solidFill>
            <a:srgbClr val="EDE3CD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8" name="Text 5"/>
          <p:cNvSpPr/>
          <p:nvPr/>
        </p:nvSpPr>
        <p:spPr>
          <a:xfrm>
            <a:off x="2697480" y="4315968"/>
            <a:ext cx="6766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(7): Cultura sísmica y cierre de la Unidad 3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(Kahoot + semáforo de metacognición de cierre de unidad)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3 · Sesión 6 · Ondas sísmicas, escalas de medición y tsunamis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33856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1033</Words>
  <Application>Microsoft Office PowerPoint</Application>
  <PresentationFormat>Widescreen</PresentationFormat>
  <Paragraphs>129</Paragraphs>
  <Slides>8</Slides>
  <Notes>8</Notes>
  <HiddenSlides>0</HiddenSlides>
  <MMClips>4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Bookman Old Style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Felipe Jiménez</cp:lastModifiedBy>
  <cp:revision>2</cp:revision>
  <dcterms:created xsi:type="dcterms:W3CDTF">2026-09-02T00:47:33Z</dcterms:created>
  <dcterms:modified xsi:type="dcterms:W3CDTF">2026-09-02T12:12:22Z</dcterms:modified>
</cp:coreProperties>
</file>