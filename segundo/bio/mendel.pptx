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40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aJX_nX-fFq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502920"/>
            <a:ext cx="2103120" cy="2103120"/>
          </a:xfrm>
          <a:prstGeom prst="ellipse">
            <a:avLst/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pic>
        <p:nvPicPr>
          <p:cNvPr id="3" name="Image 0" descr="icons/dna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777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· UNIDAD 3 · BIOLOGÍA 2° MEDIO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30352" y="11430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Mendel a la herencia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30352" y="17830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Genotipo, fenotipo y vocabulario mendeliano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30352" y="2514600"/>
            <a:ext cx="8092440" cy="1417320"/>
          </a:xfrm>
          <a:prstGeom prst="roundRect">
            <a:avLst>
              <a:gd name="adj" fmla="val 7742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29443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83464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834640" y="29443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 Medio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0060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PROFESOR(A)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00600" y="29443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Jiménez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6656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66560" y="29443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minutos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8680" y="3429000"/>
            <a:ext cx="7406640" cy="0"/>
          </a:xfrm>
          <a:prstGeom prst="line">
            <a:avLst/>
          </a:prstGeom>
          <a:noFill/>
          <a:ln w="12700">
            <a:solidFill>
              <a:srgbClr val="D7EC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35204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 7</a:t>
            </a:r>
            <a:r>
              <a:rPr lang="en-US" sz="130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Nivel Bloom: </a:t>
            </a:r>
            <a:r>
              <a:rPr lang="en-US" sz="13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r>
              <a:rPr lang="en-US" sz="130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Abre el Bloque 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dna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EXPRÉS · SESIÓN 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Cerramos el Bloque 1: división celular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" y="160020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Mitosis y meiosis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reparten el material genético de forma precisa.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154680" y="137160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19272" y="160020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 disyunción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37560" y="2148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originar trisomías y otras anomalías.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52160" y="137160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16752" y="160020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cáncer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35040" y="2148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cuando falla la regulación del ciclo celular.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damos un giro: dejamos la división celular y comenzamos a estudiar </a:t>
            </a:r>
            <a:r>
              <a:rPr lang="en-US" sz="135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heredan las características</a:t>
            </a:r>
            <a:r>
              <a:rPr lang="en-US" sz="13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generaciones.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targe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 LA SESIÓN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Objetivo, OA e Indicador de Evaluación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BIOLOGÍA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664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 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1993392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explicación científica, basada en evidencias, sobre los procesos de herencia genética, aplicando los principios de Mendel.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834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EVALUACIÓN (IE)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83480" y="17373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Formulan preguntas sobre herencia genética observando fenotipos; explican la transmisión del genotipo considerando los principios de Mendel.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1938528" cy="1417320"/>
          </a:xfrm>
          <a:prstGeom prst="roundRect">
            <a:avLst>
              <a:gd name="adj" fmla="val 7742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335584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64845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39319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y motivación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23744" y="3246120"/>
            <a:ext cx="1938528" cy="1417320"/>
          </a:xfrm>
          <a:prstGeom prst="roundRect">
            <a:avLst>
              <a:gd name="adj" fmla="val 7742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615184" y="335584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Clásica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615184" y="364845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615184" y="39319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Mendel, video y vocabulario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90288" y="3246120"/>
            <a:ext cx="1938528" cy="1417320"/>
          </a:xfrm>
          <a:prstGeom prst="roundRect">
            <a:avLst>
              <a:gd name="adj" fmla="val 7742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681728" y="335584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681728" y="364845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681728" y="39319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Disertación: patrones familiares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656832" y="3246120"/>
            <a:ext cx="1938528" cy="1417320"/>
          </a:xfrm>
          <a:prstGeom prst="roundRect">
            <a:avLst>
              <a:gd name="adj" fmla="val 7742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748272" y="335584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48272" y="364845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748272" y="39319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vocabulario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eedling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CLÁSICA · RELATO CIENTÍFICO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monje que contó arvejas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600200"/>
            <a:ext cx="2103120" cy="2103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icons/seedling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24028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Pisum sativum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4041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arveja de jardín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383280" y="1234440"/>
            <a:ext cx="5303520" cy="3246120"/>
          </a:xfrm>
          <a:prstGeom prst="roundRect">
            <a:avLst>
              <a:gd name="adj" fmla="val 3380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657600" y="14630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1856 y 1863</a:t>
            </a: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monje austríaco Gregor Mendel cruzó miles de plantas de arveja en el huerto de su monasterio, observando 7 características con formas contrastantes (ej: semilla lisa o rugosa, flor púrpura o blanca).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57600" y="2743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cruzar plantas puras, la primera generación (F1) mostraba solo una de las dos formas. Al autofecundar la F1, la forma "oculta" reaparecía en la F2, siempre en una proporción cercana a: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657600" y="370332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657600" y="3767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: 1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657600" y="4114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 : recesivo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play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AUDIOVISUAL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Mendel, contado por Cosmos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1874520"/>
          </a:xfrm>
          <a:prstGeom prst="roundRect">
            <a:avLst>
              <a:gd name="adj" fmla="val 5854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600200"/>
            <a:ext cx="1234440" cy="123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icons/play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99339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0" y="15087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Mendel — de Mundos posibles (serie Cosmos)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2286000" y="190195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breve segmento documental que narra la vida y los experimentos de Gregor Mendel junto a los de Charles Darwin, dos revolucionarios de la ciencia con comienzos humildes.</a:t>
            </a:r>
            <a:endParaRPr lang="en-US" sz="1200" dirty="0"/>
          </a:p>
        </p:txBody>
      </p:sp>
      <p:sp>
        <p:nvSpPr>
          <p:cNvPr id="10" name="Text 6">
            <a:hlinkClick r:id="rId4"/>
          </p:cNvPr>
          <p:cNvSpPr/>
          <p:nvPr/>
        </p:nvSpPr>
        <p:spPr>
          <a:xfrm>
            <a:off x="2286000" y="26974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youtube.com/watch?v=aJX_nX-fFqs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337560"/>
            <a:ext cx="8229600" cy="1143000"/>
          </a:xfrm>
          <a:prstGeom prst="roundRect">
            <a:avLst>
              <a:gd name="adj" fmla="val 9600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31520" y="3520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ver el video: </a:t>
            </a: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 atención a cómo describe la personalidad de Mendel, el método que usó y qué ocurrió con su descubrimiento durante su propia vida.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ommen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VIDEO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Conversemos sobre Mendel y Darwin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23444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Según el video, ¿dónde y bajo qué circunstancias realizó Mendel sus experimentos?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801368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80136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¿Qué característica personal de Mendel destaca el documental como clave de su éxito (paciencia, método, atención al detalle)?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368296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2368296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 video muestra a Mendel como una figura humilde, cuyo trabajo no fue reconocido en su época. ¿Por qué crees que ocurrió esto?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2935224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293522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 documental presenta juntos a Mendel y a Darwin. ¿Qué relación existe entre la evolución (Darwin) y la herencia (Mendel)?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502152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" y="3502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AER: ¿qué evidencia entregó Mendel para argumentar sus conclusiones sobre la herencia? Afirma, respalda con evidencia y razona.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4069080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" y="406908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¿Qué fue lo que más te sorprendió del video, y por qué?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2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794760" y="868680"/>
            <a:ext cx="1554480" cy="1554480"/>
          </a:xfrm>
          <a:prstGeom prst="ellipse">
            <a:avLst/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947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Alelo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914400" y="3429000"/>
            <a:ext cx="7315200" cy="1417320"/>
          </a:xfrm>
          <a:prstGeom prst="roundRect">
            <a:avLst>
              <a:gd name="adj" fmla="val 7742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5661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de las versiones alternativas de un gen.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4069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gen para la forma de la semilla puede tener el alelo “lisa” o el alelo “rugosa”.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4389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clave: </a:t>
            </a:r>
            <a:r>
              <a:rPr lang="en-US" sz="110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individuo hereda un alelo de cada progenitor, para cada gen.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2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794760" y="868680"/>
            <a:ext cx="1554480" cy="1554480"/>
          </a:xfrm>
          <a:prstGeom prst="ellipse">
            <a:avLst/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947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Genotipo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914400" y="3429000"/>
            <a:ext cx="7315200" cy="1417320"/>
          </a:xfrm>
          <a:prstGeom prst="roundRect">
            <a:avLst>
              <a:gd name="adj" fmla="val 7742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5661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combinación de alelos que un individuo posee para un carácter.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4069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SS, Ss o ss son genotipos posibles para la forma de la semilla.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4389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clave: </a:t>
            </a:r>
            <a:r>
              <a:rPr lang="en-US" sz="110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genotipo no siempre se puede observar a simple vista.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2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794760" y="868680"/>
            <a:ext cx="1554480" cy="1554480"/>
          </a:xfrm>
          <a:prstGeom prst="ellipse">
            <a:avLst/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947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8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Fenotipo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914400" y="3429000"/>
            <a:ext cx="7315200" cy="1417320"/>
          </a:xfrm>
          <a:prstGeom prst="roundRect">
            <a:avLst>
              <a:gd name="adj" fmla="val 7742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5661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característica observable que resulta de la expresión del genotipo.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4069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lisa o semilla rugosa son fenotipos observables.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4389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clave: </a:t>
            </a:r>
            <a:r>
              <a:rPr lang="en-US" sz="110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Individuos con genotipos distintos (SS y Ss) pueden compartir el mismo fenotipo.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2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794760" y="868680"/>
            <a:ext cx="1554480" cy="1554480"/>
          </a:xfrm>
          <a:prstGeom prst="ellipse">
            <a:avLst/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947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Homocigoto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914400" y="3429000"/>
            <a:ext cx="7315200" cy="1417320"/>
          </a:xfrm>
          <a:prstGeom prst="roundRect">
            <a:avLst>
              <a:gd name="adj" fmla="val 7742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5661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Individuo que posee dos alelos idénticos para un carácter.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4069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(homocigoto dominante) o ss (homocigoto recesivo).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4389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clave: </a:t>
            </a:r>
            <a:r>
              <a:rPr lang="en-US" sz="110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le llama individuo “de raza pura”.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2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794760" y="868680"/>
            <a:ext cx="1554480" cy="1554480"/>
          </a:xfrm>
          <a:prstGeom prst="ellipse">
            <a:avLst/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947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Heterocigoto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914400" y="3429000"/>
            <a:ext cx="7315200" cy="1417320"/>
          </a:xfrm>
          <a:prstGeom prst="roundRect">
            <a:avLst>
              <a:gd name="adj" fmla="val 7742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5661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Individuo que posee dos alelos diferentes para un carácter.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4069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es un genotipo heterocigoto para la forma de la semilla.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4389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clave: </a:t>
            </a:r>
            <a:r>
              <a:rPr lang="en-US" sz="110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le llama individuo “híbrido”.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2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794760" y="868680"/>
            <a:ext cx="1554480" cy="1554480"/>
          </a:xfrm>
          <a:prstGeom prst="ellipse">
            <a:avLst/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94760" y="868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8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D/r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Dominante y recesivo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914400" y="3429000"/>
            <a:ext cx="7315200" cy="1417320"/>
          </a:xfrm>
          <a:prstGeom prst="roundRect">
            <a:avLst>
              <a:gd name="adj" fmla="val 7742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5661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alelo dominante se expresa incluso en heterocigosis; el recesivo, solo en homocigosis.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4069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guisantes de Mendel, la semilla lisa (S) es dominante sobre la rugosa (s).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4389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clave: </a:t>
            </a:r>
            <a:r>
              <a:rPr lang="en-US" sz="110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dominante se escribe con mayúscula; el recesivo, con minúscula.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flas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GENOTIPO AL FENOTIPO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Semilla lisa (S) es dominante sobre rugosa (s)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46304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261872" y="214884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7A7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90472" y="2331720"/>
            <a:ext cx="365760" cy="365760"/>
          </a:xfrm>
          <a:prstGeom prst="ellipse">
            <a:avLst/>
          </a:prstGeom>
          <a:solidFill>
            <a:srgbClr val="F3FAF8"/>
          </a:solidFill>
          <a:ln w="12700">
            <a:solidFill>
              <a:srgbClr val="F3FA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3375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Fenotipo: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lisa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367588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9319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Homocigoto dominante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09544" y="128016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00984" y="146304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4014216" y="214884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7A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42816" y="2331720"/>
            <a:ext cx="365760" cy="365760"/>
          </a:xfrm>
          <a:prstGeom prst="ellipse">
            <a:avLst/>
          </a:prstGeom>
          <a:solidFill>
            <a:srgbClr val="F3FAF8"/>
          </a:solidFill>
          <a:ln w="12700">
            <a:solidFill>
              <a:srgbClr val="F3FA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46704" y="33375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Fenotipo: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lisa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46704" y="367588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46704" y="39319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Heterocigoto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61888" y="128016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53328" y="146304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6766560" y="214884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7A7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95160" y="2377440"/>
            <a:ext cx="146304" cy="146304"/>
          </a:xfrm>
          <a:prstGeom prst="ellipse">
            <a:avLst/>
          </a:prstGeom>
          <a:solidFill>
            <a:srgbClr val="D8E9E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60920" y="2331720"/>
            <a:ext cx="146304" cy="146304"/>
          </a:xfrm>
          <a:prstGeom prst="ellipse">
            <a:avLst/>
          </a:prstGeom>
          <a:solidFill>
            <a:srgbClr val="D8E9E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43800" y="2651760"/>
            <a:ext cx="146304" cy="146304"/>
          </a:xfrm>
          <a:prstGeom prst="ellipse">
            <a:avLst/>
          </a:prstGeom>
          <a:solidFill>
            <a:srgbClr val="D8E9E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23760" y="2697480"/>
            <a:ext cx="146304" cy="146304"/>
          </a:xfrm>
          <a:prstGeom prst="ellipse">
            <a:avLst/>
          </a:prstGeom>
          <a:solidFill>
            <a:srgbClr val="D8E9E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95160" y="2834640"/>
            <a:ext cx="146304" cy="146304"/>
          </a:xfrm>
          <a:prstGeom prst="ellipse">
            <a:avLst/>
          </a:prstGeom>
          <a:solidFill>
            <a:srgbClr val="D8E9E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06640" y="2926080"/>
            <a:ext cx="146304" cy="146304"/>
          </a:xfrm>
          <a:prstGeom prst="ellipse">
            <a:avLst/>
          </a:prstGeom>
          <a:solidFill>
            <a:srgbClr val="D8E9E6"/>
          </a:solidFill>
          <a:ln w="12700">
            <a:solidFill>
              <a:srgbClr val="D8E9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99048" y="33375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Fenotipo: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rugosa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099048" y="367588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Clasificación: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099048" y="39319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Homocigoto recesivo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loudsu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ACTIVIDAD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todo lo observable es solo genético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508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Fenotipo  =  Genotipo  +  Ambiente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3977640" cy="2011680"/>
          </a:xfrm>
          <a:prstGeom prst="roundRect">
            <a:avLst>
              <a:gd name="adj" fmla="val 5455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CARÁCTER MAYORMENTE GENÉTICO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971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lóbulo de la oreja (adherido o libre) o la capacidad de enrollar la lengua dependen casi exclusivamente del genotipo heredado.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2468880"/>
            <a:ext cx="3977640" cy="2011680"/>
          </a:xfrm>
          <a:prstGeom prst="roundRect">
            <a:avLst>
              <a:gd name="adj" fmla="val 5455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8348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CARÁCTER INFLUIDO POR EL AMBIENTE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83480" y="2971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estatura depende de genes, pero también de la nutrición; el tono de piel depende de la melanina heredada, pero también de la exposición solar.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itemap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STEAM · DISERTACIÓN BREVE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hereditarios en mi familia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77640" cy="3337560"/>
          </a:xfrm>
          <a:prstGeom prst="roundRect">
            <a:avLst>
              <a:gd name="adj" fmla="val 3288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pic>
        <p:nvPicPr>
          <p:cNvPr id="6" name="Image 1" descr="icons/user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5331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PREPARAR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31520" y="173736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Reúnan datos de al menos 3 generaciones de su familia (o una familia ficticia) sobre 1 o 2 características observables.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Dibujen el árbol genealógico con la simbología estándar, anotando el fenotipo de cada persona.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Busquen un patrón: ¿el carácter se repite en todas las generaciones? ¿salta generaciones? ¿se asocia a un sexo?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Clasifiquen cada carácter: ¿es mayormente genético o también influye el ambiente?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709160" y="1188720"/>
            <a:ext cx="3977640" cy="3337560"/>
          </a:xfrm>
          <a:prstGeom prst="roundRect">
            <a:avLst>
              <a:gd name="adj" fmla="val 3288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98348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DISERTACIÓN (máx. 2 minutos)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983480" y="1719072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Afirmación: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presenten el carácter elegido y el patrón observado en su árbol.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muestren su árbol genealógico de al menos 3 generaciones.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Razonamiento: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expliquen el genotipo probable involucrado y si el ambiente también influye.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983480" y="3566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Presenten en grupos de 3-4 personas, cronometrando su tiempo. Cada integrante presenta su propio caso.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itemap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REFERENCIA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ve un árbol como el que vas a construir</a:t>
            </a:r>
            <a:endParaRPr lang="en-US" sz="2000" dirty="0"/>
          </a:p>
        </p:txBody>
      </p:sp>
      <p:pic>
        <p:nvPicPr>
          <p:cNvPr id="5" name="Image 1" descr="ejemplo_arbol_genealogi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960120"/>
            <a:ext cx="6035040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537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solo un ejemplo </a:t>
            </a: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(carácter: lóbulo de la oreja). Tu árbol usará tu propia familia y el carácter que elijas — replica la estructura: 3 generaciones, simbología correcta, y un patrón que puedas argumentar.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lipboardlis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DE EVALUACIÓN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Rúbrica: disertación de patrones hereditarios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70432"/>
            <a:ext cx="1600200" cy="347472"/>
          </a:xfrm>
          <a:prstGeom prst="rect">
            <a:avLst/>
          </a:prstGeom>
          <a:solidFill>
            <a:srgbClr val="155F58"/>
          </a:solidFill>
          <a:ln w="12700">
            <a:solidFill>
              <a:srgbClr val="155F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170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057400" y="1170432"/>
            <a:ext cx="1691640" cy="347472"/>
          </a:xfrm>
          <a:prstGeom prst="rect">
            <a:avLst/>
          </a:prstGeom>
          <a:solidFill>
            <a:srgbClr val="155F58"/>
          </a:solidFill>
          <a:ln w="12700">
            <a:solidFill>
              <a:srgbClr val="155F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03120" y="11704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Destacado (4)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49040" y="1170432"/>
            <a:ext cx="1691640" cy="347472"/>
          </a:xfrm>
          <a:prstGeom prst="rect">
            <a:avLst/>
          </a:prstGeom>
          <a:solidFill>
            <a:srgbClr val="155F58"/>
          </a:solidFill>
          <a:ln w="12700">
            <a:solidFill>
              <a:srgbClr val="155F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94760" y="11704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Logrado (3)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40680" y="1170432"/>
            <a:ext cx="1691640" cy="347472"/>
          </a:xfrm>
          <a:prstGeom prst="rect">
            <a:avLst/>
          </a:prstGeom>
          <a:solidFill>
            <a:srgbClr val="155F58"/>
          </a:solidFill>
          <a:ln w="12700">
            <a:solidFill>
              <a:srgbClr val="155F5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11704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 (2)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32320" y="1170432"/>
            <a:ext cx="1554480" cy="347472"/>
          </a:xfrm>
          <a:prstGeom prst="rect">
            <a:avLst/>
          </a:prstGeom>
          <a:solidFill>
            <a:srgbClr val="155F58"/>
          </a:solidFill>
          <a:ln w="12700">
            <a:solidFill>
              <a:srgbClr val="155F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 (1)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1517904"/>
            <a:ext cx="1600200" cy="585216"/>
          </a:xfrm>
          <a:prstGeom prst="rect">
            <a:avLst/>
          </a:prstGeom>
          <a:solidFill>
            <a:srgbClr val="EAF7F5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" y="153619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genealógico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057400" y="1517904"/>
            <a:ext cx="1691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12264" y="153619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generaciones, simbología correcta, fenotipos claros</a:t>
            </a:r>
            <a:endParaRPr lang="en-US" sz="830" dirty="0"/>
          </a:p>
        </p:txBody>
      </p:sp>
      <p:sp>
        <p:nvSpPr>
          <p:cNvPr id="19" name="Shape 16"/>
          <p:cNvSpPr/>
          <p:nvPr/>
        </p:nvSpPr>
        <p:spPr>
          <a:xfrm>
            <a:off x="3749040" y="1517904"/>
            <a:ext cx="1691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03904" y="153619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generaciones, con errores menores de simbología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5440680" y="1517904"/>
            <a:ext cx="1691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95544" y="153619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3 generaciones o fenotipos incompletos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7132320" y="1517904"/>
            <a:ext cx="1554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87184" y="1536192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ausente o muy incompleto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457200" y="2103120"/>
            <a:ext cx="1600200" cy="585216"/>
          </a:xfrm>
          <a:prstGeom prst="rect">
            <a:avLst/>
          </a:prstGeom>
          <a:solidFill>
            <a:srgbClr val="EAF7F5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2064" y="2121408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patrones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057400" y="2103120"/>
            <a:ext cx="1691640" cy="585216"/>
          </a:xfrm>
          <a:prstGeom prst="rect">
            <a:avLst/>
          </a:prstGeom>
          <a:solidFill>
            <a:srgbClr val="F7FAF9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112264" y="2121408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con precisión cómo se repite o salta el carácter</a:t>
            </a:r>
            <a:endParaRPr lang="en-US" sz="830" dirty="0"/>
          </a:p>
        </p:txBody>
      </p:sp>
      <p:sp>
        <p:nvSpPr>
          <p:cNvPr id="29" name="Shape 26"/>
          <p:cNvSpPr/>
          <p:nvPr/>
        </p:nvSpPr>
        <p:spPr>
          <a:xfrm>
            <a:off x="3749040" y="2103120"/>
            <a:ext cx="1691640" cy="585216"/>
          </a:xfrm>
          <a:prstGeom prst="rect">
            <a:avLst/>
          </a:prstGeom>
          <a:solidFill>
            <a:srgbClr val="F7FAF9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03904" y="2121408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el patrón de forma general</a:t>
            </a:r>
            <a:endParaRPr lang="en-US" sz="830" dirty="0"/>
          </a:p>
        </p:txBody>
      </p:sp>
      <p:sp>
        <p:nvSpPr>
          <p:cNvPr id="31" name="Shape 28"/>
          <p:cNvSpPr/>
          <p:nvPr/>
        </p:nvSpPr>
        <p:spPr>
          <a:xfrm>
            <a:off x="5440680" y="2103120"/>
            <a:ext cx="1691640" cy="585216"/>
          </a:xfrm>
          <a:prstGeom prst="rect">
            <a:avLst/>
          </a:prstGeom>
          <a:solidFill>
            <a:srgbClr val="F7FAF9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95544" y="2121408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Menciona el patrón sin analizarlo</a:t>
            </a:r>
            <a:endParaRPr lang="en-US" sz="830" dirty="0"/>
          </a:p>
        </p:txBody>
      </p:sp>
      <p:sp>
        <p:nvSpPr>
          <p:cNvPr id="33" name="Shape 30"/>
          <p:cNvSpPr/>
          <p:nvPr/>
        </p:nvSpPr>
        <p:spPr>
          <a:xfrm>
            <a:off x="7132320" y="2103120"/>
            <a:ext cx="1554480" cy="585216"/>
          </a:xfrm>
          <a:prstGeom prst="rect">
            <a:avLst/>
          </a:prstGeom>
          <a:solidFill>
            <a:srgbClr val="F7FAF9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87184" y="2121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identifica un patrón</a:t>
            </a:r>
            <a:endParaRPr lang="en-US" sz="830" dirty="0"/>
          </a:p>
        </p:txBody>
      </p:sp>
      <p:sp>
        <p:nvSpPr>
          <p:cNvPr id="35" name="Shape 32"/>
          <p:cNvSpPr/>
          <p:nvPr/>
        </p:nvSpPr>
        <p:spPr>
          <a:xfrm>
            <a:off x="457200" y="2688336"/>
            <a:ext cx="1600200" cy="585216"/>
          </a:xfrm>
          <a:prstGeom prst="rect">
            <a:avLst/>
          </a:prstGeom>
          <a:solidFill>
            <a:srgbClr val="EAF7F5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2064" y="2706624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Genotipo, fenotipo y ambiente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057400" y="2688336"/>
            <a:ext cx="1691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12264" y="2706624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y distingue correctamente los 3 conceptos</a:t>
            </a:r>
            <a:endParaRPr lang="en-US" sz="830" dirty="0"/>
          </a:p>
        </p:txBody>
      </p:sp>
      <p:sp>
        <p:nvSpPr>
          <p:cNvPr id="39" name="Shape 36"/>
          <p:cNvSpPr/>
          <p:nvPr/>
        </p:nvSpPr>
        <p:spPr>
          <a:xfrm>
            <a:off x="3749040" y="2688336"/>
            <a:ext cx="1691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03904" y="2706624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los 3 conceptos con alguna imprecisión</a:t>
            </a:r>
            <a:endParaRPr lang="en-US" sz="830" dirty="0"/>
          </a:p>
        </p:txBody>
      </p:sp>
      <p:sp>
        <p:nvSpPr>
          <p:cNvPr id="41" name="Shape 38"/>
          <p:cNvSpPr/>
          <p:nvPr/>
        </p:nvSpPr>
        <p:spPr>
          <a:xfrm>
            <a:off x="5440680" y="2688336"/>
            <a:ext cx="1691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95544" y="2706624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solo 1 o 2 de los conceptos</a:t>
            </a:r>
            <a:endParaRPr lang="en-US" sz="830" dirty="0"/>
          </a:p>
        </p:txBody>
      </p:sp>
      <p:sp>
        <p:nvSpPr>
          <p:cNvPr id="43" name="Shape 40"/>
          <p:cNvSpPr/>
          <p:nvPr/>
        </p:nvSpPr>
        <p:spPr>
          <a:xfrm>
            <a:off x="7132320" y="2688336"/>
            <a:ext cx="1554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87184" y="2706624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 los conceptos</a:t>
            </a:r>
            <a:endParaRPr lang="en-US" sz="830" dirty="0"/>
          </a:p>
        </p:txBody>
      </p:sp>
      <p:sp>
        <p:nvSpPr>
          <p:cNvPr id="45" name="Shape 42"/>
          <p:cNvSpPr/>
          <p:nvPr/>
        </p:nvSpPr>
        <p:spPr>
          <a:xfrm>
            <a:off x="457200" y="3273552"/>
            <a:ext cx="1600200" cy="585216"/>
          </a:xfrm>
          <a:prstGeom prst="rect">
            <a:avLst/>
          </a:prstGeom>
          <a:solidFill>
            <a:srgbClr val="EAF7F5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12064" y="32918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Argumentación (AER)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2057400" y="3273552"/>
            <a:ext cx="1691640" cy="585216"/>
          </a:xfrm>
          <a:prstGeom prst="rect">
            <a:avLst/>
          </a:prstGeom>
          <a:solidFill>
            <a:srgbClr val="F7FAF9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112264" y="3291840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Afirmación, evidencia y razonamiento claros y conectados</a:t>
            </a:r>
            <a:endParaRPr lang="en-US" sz="830" dirty="0"/>
          </a:p>
        </p:txBody>
      </p:sp>
      <p:sp>
        <p:nvSpPr>
          <p:cNvPr id="49" name="Shape 46"/>
          <p:cNvSpPr/>
          <p:nvPr/>
        </p:nvSpPr>
        <p:spPr>
          <a:xfrm>
            <a:off x="3749040" y="3273552"/>
            <a:ext cx="1691640" cy="585216"/>
          </a:xfrm>
          <a:prstGeom prst="rect">
            <a:avLst/>
          </a:prstGeom>
          <a:solidFill>
            <a:srgbClr val="F7FAF9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803904" y="3291840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los 3 elementos con conexión parcial</a:t>
            </a:r>
            <a:endParaRPr lang="en-US" sz="830" dirty="0"/>
          </a:p>
        </p:txBody>
      </p:sp>
      <p:sp>
        <p:nvSpPr>
          <p:cNvPr id="51" name="Shape 48"/>
          <p:cNvSpPr/>
          <p:nvPr/>
        </p:nvSpPr>
        <p:spPr>
          <a:xfrm>
            <a:off x="5440680" y="3273552"/>
            <a:ext cx="1691640" cy="585216"/>
          </a:xfrm>
          <a:prstGeom prst="rect">
            <a:avLst/>
          </a:prstGeom>
          <a:solidFill>
            <a:srgbClr val="F7FAF9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495544" y="3291840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solo 1 o 2 elementos del AER</a:t>
            </a:r>
            <a:endParaRPr lang="en-US" sz="830" dirty="0"/>
          </a:p>
        </p:txBody>
      </p:sp>
      <p:sp>
        <p:nvSpPr>
          <p:cNvPr id="53" name="Shape 50"/>
          <p:cNvSpPr/>
          <p:nvPr/>
        </p:nvSpPr>
        <p:spPr>
          <a:xfrm>
            <a:off x="7132320" y="3273552"/>
            <a:ext cx="1554480" cy="585216"/>
          </a:xfrm>
          <a:prstGeom prst="rect">
            <a:avLst/>
          </a:prstGeom>
          <a:solidFill>
            <a:srgbClr val="F7FAF9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87184" y="32918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argumenta su hipótesis</a:t>
            </a:r>
            <a:endParaRPr lang="en-US" sz="830" dirty="0"/>
          </a:p>
        </p:txBody>
      </p:sp>
      <p:sp>
        <p:nvSpPr>
          <p:cNvPr id="55" name="Shape 52"/>
          <p:cNvSpPr/>
          <p:nvPr/>
        </p:nvSpPr>
        <p:spPr>
          <a:xfrm>
            <a:off x="457200" y="3858768"/>
            <a:ext cx="1600200" cy="585216"/>
          </a:xfrm>
          <a:prstGeom prst="rect">
            <a:avLst/>
          </a:prstGeom>
          <a:solidFill>
            <a:srgbClr val="EAF7F5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12064" y="3877056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oral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2057400" y="3858768"/>
            <a:ext cx="1691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112264" y="3877056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Clara, fluida, dentro de 2 min., vocabulario científico preciso</a:t>
            </a:r>
            <a:endParaRPr lang="en-US" sz="830" dirty="0"/>
          </a:p>
        </p:txBody>
      </p:sp>
      <p:sp>
        <p:nvSpPr>
          <p:cNvPr id="59" name="Shape 56"/>
          <p:cNvSpPr/>
          <p:nvPr/>
        </p:nvSpPr>
        <p:spPr>
          <a:xfrm>
            <a:off x="3749040" y="3858768"/>
            <a:ext cx="1691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803904" y="3877056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Clara, se excede levemente del tiempo o vocabulario básico</a:t>
            </a:r>
            <a:endParaRPr lang="en-US" sz="830" dirty="0"/>
          </a:p>
        </p:txBody>
      </p:sp>
      <p:sp>
        <p:nvSpPr>
          <p:cNvPr id="61" name="Shape 58"/>
          <p:cNvSpPr/>
          <p:nvPr/>
        </p:nvSpPr>
        <p:spPr>
          <a:xfrm>
            <a:off x="5440680" y="3858768"/>
            <a:ext cx="1691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495544" y="3877056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clara, o muy breve/extensa</a:t>
            </a:r>
            <a:endParaRPr lang="en-US" sz="830" dirty="0"/>
          </a:p>
        </p:txBody>
      </p:sp>
      <p:sp>
        <p:nvSpPr>
          <p:cNvPr id="63" name="Shape 60"/>
          <p:cNvSpPr/>
          <p:nvPr/>
        </p:nvSpPr>
        <p:spPr>
          <a:xfrm>
            <a:off x="7132320" y="3858768"/>
            <a:ext cx="1554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187184" y="3877056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3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logra comunicar su disertación</a:t>
            </a:r>
            <a:endParaRPr lang="en-US" sz="830" dirty="0"/>
          </a:p>
        </p:txBody>
      </p:sp>
      <p:sp>
        <p:nvSpPr>
          <p:cNvPr id="65" name="Text 62"/>
          <p:cNvSpPr/>
          <p:nvPr/>
        </p:nvSpPr>
        <p:spPr>
          <a:xfrm>
            <a:off x="457200" y="44988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total: 20 puntos (5 criterios × 4 puntos máx.)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lipboar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FORMATIVA · GUÍA DE VOCABULARIO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¿Quedó claro? (preguntas 1 a 3)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987552"/>
          </a:xfrm>
          <a:prstGeom prst="roundRect">
            <a:avLst>
              <a:gd name="adj" fmla="val 11111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3533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 el genotipo de una planta es “Aa”, ¿cómo se le clasifica?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16824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Homocigoto dominante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651760" y="16824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Homocigoto recesivo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617720" y="16824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Heterocigoto</a:t>
            </a:r>
            <a:endParaRPr lang="en-US" sz="950" dirty="0"/>
          </a:p>
        </p:txBody>
      </p:sp>
      <p:pic>
        <p:nvPicPr>
          <p:cNvPr id="10" name="Image 1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700784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16824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Fenotipo recesivo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2359152"/>
            <a:ext cx="8229600" cy="987552"/>
          </a:xfrm>
          <a:prstGeom prst="roundRect">
            <a:avLst>
              <a:gd name="adj" fmla="val 11111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85800" y="2432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¿Cuál de las siguientes opciones corresponde a un fenotipo, y no a un genotipo?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85800" y="27614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651760" y="27614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617720" y="27614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583680" y="27614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Semilla lisa</a:t>
            </a:r>
            <a:endParaRPr lang="en-US" sz="950" dirty="0"/>
          </a:p>
        </p:txBody>
      </p:sp>
      <p:pic>
        <p:nvPicPr>
          <p:cNvPr id="18" name="Image 2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2779776"/>
            <a:ext cx="146304" cy="14630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57200" y="3438144"/>
            <a:ext cx="8229600" cy="987552"/>
          </a:xfrm>
          <a:prstGeom prst="roundRect">
            <a:avLst>
              <a:gd name="adj" fmla="val 11111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85800" y="35112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 individuo con genotipo “ss” (s = recesivo) tendrá un fenotipo: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85800" y="38404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lisa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2651760" y="38404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Semilla rugosa</a:t>
            </a:r>
            <a:endParaRPr lang="en-US" sz="950" dirty="0"/>
          </a:p>
        </p:txBody>
      </p:sp>
      <p:pic>
        <p:nvPicPr>
          <p:cNvPr id="23" name="Image 3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3858768"/>
            <a:ext cx="146304" cy="1463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17720" y="38404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583680" y="38404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determinar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lipboar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FORMATIVA · GUÍA DE VOCABULARIO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¿Quedó claro? (preguntas 4 y 5)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987552"/>
          </a:xfrm>
          <a:prstGeom prst="roundRect">
            <a:avLst>
              <a:gd name="adj" fmla="val 11111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3533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¿Por qué dos individuos con genotipos distintos (AA y Aa) pueden tener el mismo fenotipo?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16824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El dominante se expresa igual en homo y heterocigosis</a:t>
            </a:r>
            <a:endParaRPr lang="en-US" sz="950" dirty="0"/>
          </a:p>
        </p:txBody>
      </p:sp>
      <p:pic>
        <p:nvPicPr>
          <p:cNvPr id="8" name="Image 1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72" y="1700784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1760" y="16824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fenotipo no depende del genotipo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617720" y="16824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y Aa son el mismo genotipo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583680" y="16824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recesivo siempre se expresa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2359152"/>
            <a:ext cx="8229600" cy="987552"/>
          </a:xfrm>
          <a:prstGeom prst="roundRect">
            <a:avLst>
              <a:gd name="adj" fmla="val 11111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85800" y="24323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 la F2 de Mendel, ¿qué proporción fenotípica se observó aproximadamente?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85800" y="27614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651760" y="27614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2 : 1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617720" y="27614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3 : 1</a:t>
            </a:r>
            <a:endParaRPr lang="en-US" sz="950" dirty="0"/>
          </a:p>
        </p:txBody>
      </p:sp>
      <p:pic>
        <p:nvPicPr>
          <p:cNvPr id="17" name="Image 2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77977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27614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</a:t>
            </a: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: 3 : 3 : 1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dna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Y PRÓXIMOS PASOS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418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sabemos hoy sobre la herencia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977640" cy="2743200"/>
          </a:xfrm>
          <a:prstGeom prst="roundRect">
            <a:avLst>
              <a:gd name="adj" fmla="val 4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APRENDIMOS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78308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fue Mendel y qué reveló su experimento con arvejas.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términos alelo, genotipo, fenotipo, homocigoto y heterocigoto.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fenotipo depende del genotipo y, a veces, también del ambiente.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identificar patrones hereditarios en un árbol genealógico.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2743200"/>
          </a:xfrm>
          <a:prstGeom prst="roundRect">
            <a:avLst>
              <a:gd name="adj" fmla="val 4000"/>
            </a:avLst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  <a:effectLst>
            <a:outerShdw blurRad="101600" dist="25400" dir="5400000" algn="bl" rotWithShape="0">
              <a:srgbClr val="1F7A7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834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— SEMANA 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83480" y="17830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Monohibridismo: cuadros de Punnett y resolución de problemas de genética simple.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 · Prof. Felipe Jiménez · 2° Medio Biología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Genética — Sesión 4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7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1863</Words>
  <Application>Microsoft Office PowerPoint</Application>
  <PresentationFormat>Presentación en pantalla (16:9)</PresentationFormat>
  <Paragraphs>266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4 - Unidad 3: De Mendel a la herencia</dc:title>
  <dc:subject>PptxGenJS Presentation</dc:subject>
  <dc:creator>Felipe Jiménez</dc:creator>
  <cp:lastModifiedBy>pavilon360casa@outlook.com</cp:lastModifiedBy>
  <cp:revision>1</cp:revision>
  <dcterms:created xsi:type="dcterms:W3CDTF">2026-08-26T01:06:27Z</dcterms:created>
  <dcterms:modified xsi:type="dcterms:W3CDTF">2026-08-26T01:08:36Z</dcterms:modified>
</cp:coreProperties>
</file>